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wide"/>
  <p:notesSz cx="6858000" cy="9144000"/>
  <p:defaultTextStyle>
    <a:defPPr>
      <a:defRPr lang="id-ID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99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sp>
        <p:nvSpPr>
          <p:cNvPr id="3" name="left panel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4" name="gold block"/>
          <p:cNvSpPr/>
          <p:nvPr/>
        </p:nvSpPr>
        <p:spPr>
          <a:xfrm>
            <a:off x="457200" y="5440680"/>
            <a:ext cx="1828800" cy="109728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1508760" cy="1508760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685800" y="2514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400" b="1">
                <a:solidFill>
                  <a:srgbClr val="E4AD22"/>
                </a:solidFill>
              </a:rPr>
              <a:t>KOMITE PENGAWASAN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58368" y="288036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4000" b="1">
                <a:solidFill>
                  <a:srgbClr val="FFFFFF"/>
                </a:solidFill>
              </a:rPr>
              <a:t>PEMIRA APP</a:t>
            </a:r>
          </a:p>
          <a:p>
            <a:pPr algn="l"/>
            <a:r>
              <a:rPr lang="id-ID" sz="4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main"/>
          <p:cNvSpPr txBox="1"/>
          <p:nvPr/>
        </p:nvSpPr>
        <p:spPr>
          <a:xfrm>
            <a:off x="4434840" y="132588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3400" b="1">
                <a:solidFill>
                  <a:srgbClr val="FFFFFF"/>
                </a:solidFill>
              </a:rPr>
              <a:t>Sistem Pelaporan dan Pengawasan</a:t>
            </a:r>
          </a:p>
          <a:p>
            <a:pPr algn="l"/>
            <a:r>
              <a:rPr lang="id-ID" sz="3400" b="1">
                <a:solidFill>
                  <a:srgbClr val="FFFFFF"/>
                </a:solidFill>
              </a:rPr>
              <a:t>Pelanggaran Pemilihan Raya</a:t>
            </a:r>
          </a:p>
        </p:txBody>
      </p:sp>
      <p:sp>
        <p:nvSpPr>
          <p:cNvPr id="9" name="desc"/>
          <p:cNvSpPr txBox="1"/>
          <p:nvPr/>
        </p:nvSpPr>
        <p:spPr>
          <a:xfrm>
            <a:off x="4480560" y="292608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600">
                <a:solidFill>
                  <a:srgbClr val="B8C3D9"/>
                </a:solidFill>
              </a:rPr>
              <a:t>Platform digital untuk pelaporan dugaan pelanggaran, pelacakan status, investigasi internal, dan publikasi putusan secara transparan.</a:t>
            </a:r>
          </a:p>
        </p:txBody>
      </p:sp>
      <p:sp>
        <p:nvSpPr>
          <p:cNvPr id="10" name="pill"/>
          <p:cNvSpPr/>
          <p:nvPr/>
        </p:nvSpPr>
        <p:spPr>
          <a:xfrm>
            <a:off x="4480560" y="4160520"/>
            <a:ext cx="233172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1" name="pill text"/>
          <p:cNvSpPr txBox="1"/>
          <p:nvPr/>
        </p:nvSpPr>
        <p:spPr>
          <a:xfrm>
            <a:off x="4617720" y="427024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100" b="1">
                <a:solidFill>
                  <a:srgbClr val="0B162C"/>
                </a:solidFill>
              </a:rPr>
              <a:t>KM Poltekkes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Fungsi dan Kegunaan Aplikasi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PEMIRA APP 2025</a:t>
            </a:r>
          </a:p>
        </p:txBody>
      </p:sp>
      <p:sp>
        <p:nvSpPr>
          <p:cNvPr id="20" name="intro"/>
          <p:cNvSpPr txBox="1"/>
          <p:nvPr/>
        </p:nvSpPr>
        <p:spPr>
          <a:xfrm>
            <a:off x="822960" y="105156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600">
                <a:solidFill>
                  <a:srgbClr val="B8C3D9"/>
                </a:solidFill>
              </a:rPr>
              <a:t>PEMIRA APP dirancang sebagai kanal digital resmi untuk memudahkan mahasiswa melapor dan membantu Komite Pengawasan mengelola proses penanganan laporan secara rapi.</a:t>
            </a:r>
          </a:p>
        </p:txBody>
      </p:sp>
      <p:sp>
        <p:nvSpPr>
          <p:cNvPr id="30" name="function card"/>
          <p:cNvSpPr/>
          <p:nvPr/>
        </p:nvSpPr>
        <p:spPr>
          <a:xfrm>
            <a:off x="822960" y="1965960"/>
            <a:ext cx="5074920" cy="123444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40" name="function num"/>
          <p:cNvSpPr/>
          <p:nvPr/>
        </p:nvSpPr>
        <p:spPr>
          <a:xfrm>
            <a:off x="1051560" y="2221991"/>
            <a:ext cx="566928" cy="56692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50" name="function num text"/>
          <p:cNvSpPr txBox="1"/>
          <p:nvPr/>
        </p:nvSpPr>
        <p:spPr>
          <a:xfrm>
            <a:off x="1161288" y="23591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100" b="1">
                <a:solidFill>
                  <a:srgbClr val="0B162C"/>
                </a:solidFill>
              </a:rPr>
              <a:t>01</a:t>
            </a:r>
          </a:p>
        </p:txBody>
      </p:sp>
      <p:sp>
        <p:nvSpPr>
          <p:cNvPr id="60" name="function title"/>
          <p:cNvSpPr txBox="1"/>
          <p:nvPr/>
        </p:nvSpPr>
        <p:spPr>
          <a:xfrm>
            <a:off x="1783080" y="22128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500" b="1">
                <a:solidFill>
                  <a:srgbClr val="FFFFFF"/>
                </a:solidFill>
              </a:rPr>
              <a:t>Kanal Pelaporan Mahasiswa</a:t>
            </a:r>
          </a:p>
        </p:txBody>
      </p:sp>
      <p:sp>
        <p:nvSpPr>
          <p:cNvPr id="70" name="function desc"/>
          <p:cNvSpPr txBox="1"/>
          <p:nvPr/>
        </p:nvSpPr>
        <p:spPr>
          <a:xfrm>
            <a:off x="1783080" y="258775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>
                <a:solidFill>
                  <a:srgbClr val="B8C3D9"/>
                </a:solidFill>
              </a:rPr>
              <a:t>Mahasiswa dapat mengirim laporan dugaan pelanggaran tanpa login, baik dengan mengisi form langsung maupun mengunggah template formulir.</a:t>
            </a:r>
          </a:p>
        </p:txBody>
      </p:sp>
      <p:sp>
        <p:nvSpPr>
          <p:cNvPr id="31" name="function card"/>
          <p:cNvSpPr/>
          <p:nvPr/>
        </p:nvSpPr>
        <p:spPr>
          <a:xfrm>
            <a:off x="6355080" y="1965960"/>
            <a:ext cx="5074920" cy="123444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41" name="function num"/>
          <p:cNvSpPr/>
          <p:nvPr/>
        </p:nvSpPr>
        <p:spPr>
          <a:xfrm>
            <a:off x="6583680" y="2221991"/>
            <a:ext cx="566928" cy="56692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51" name="function num text"/>
          <p:cNvSpPr txBox="1"/>
          <p:nvPr/>
        </p:nvSpPr>
        <p:spPr>
          <a:xfrm>
            <a:off x="6693408" y="23591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100" b="1">
                <a:solidFill>
                  <a:srgbClr val="0B162C"/>
                </a:solidFill>
              </a:rPr>
              <a:t>02</a:t>
            </a:r>
          </a:p>
        </p:txBody>
      </p:sp>
      <p:sp>
        <p:nvSpPr>
          <p:cNvPr id="61" name="function title"/>
          <p:cNvSpPr txBox="1"/>
          <p:nvPr/>
        </p:nvSpPr>
        <p:spPr>
          <a:xfrm>
            <a:off x="7315200" y="22128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500" b="1">
                <a:solidFill>
                  <a:srgbClr val="FFFFFF"/>
                </a:solidFill>
              </a:rPr>
              <a:t>Pelacakan Status</a:t>
            </a:r>
          </a:p>
        </p:txBody>
      </p:sp>
      <p:sp>
        <p:nvSpPr>
          <p:cNvPr id="71" name="function desc"/>
          <p:cNvSpPr txBox="1"/>
          <p:nvPr/>
        </p:nvSpPr>
        <p:spPr>
          <a:xfrm>
            <a:off x="7315200" y="258775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>
                <a:solidFill>
                  <a:srgbClr val="B8C3D9"/>
                </a:solidFill>
              </a:rPr>
              <a:t>Setiap laporan mendapatkan kode tiket. Pelapor dapat memantau status menggunakan kode tiket dan NPM.</a:t>
            </a:r>
          </a:p>
        </p:txBody>
      </p:sp>
      <p:sp>
        <p:nvSpPr>
          <p:cNvPr id="32" name="function card"/>
          <p:cNvSpPr/>
          <p:nvPr/>
        </p:nvSpPr>
        <p:spPr>
          <a:xfrm>
            <a:off x="822960" y="3566160"/>
            <a:ext cx="5074920" cy="123444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42" name="function num"/>
          <p:cNvSpPr/>
          <p:nvPr/>
        </p:nvSpPr>
        <p:spPr>
          <a:xfrm>
            <a:off x="1051560" y="3822191"/>
            <a:ext cx="566928" cy="56692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52" name="function num text"/>
          <p:cNvSpPr txBox="1"/>
          <p:nvPr/>
        </p:nvSpPr>
        <p:spPr>
          <a:xfrm>
            <a:off x="1161288" y="39593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100" b="1">
                <a:solidFill>
                  <a:srgbClr val="0B162C"/>
                </a:solidFill>
              </a:rPr>
              <a:t>03</a:t>
            </a:r>
          </a:p>
        </p:txBody>
      </p:sp>
      <p:sp>
        <p:nvSpPr>
          <p:cNvPr id="62" name="function title"/>
          <p:cNvSpPr txBox="1"/>
          <p:nvPr/>
        </p:nvSpPr>
        <p:spPr>
          <a:xfrm>
            <a:off x="1783080" y="38130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500" b="1">
                <a:solidFill>
                  <a:srgbClr val="FFFFFF"/>
                </a:solidFill>
              </a:rPr>
              <a:t>Manajemen Investigasi</a:t>
            </a:r>
          </a:p>
        </p:txBody>
      </p:sp>
      <p:sp>
        <p:nvSpPr>
          <p:cNvPr id="72" name="function desc"/>
          <p:cNvSpPr txBox="1"/>
          <p:nvPr/>
        </p:nvSpPr>
        <p:spPr>
          <a:xfrm>
            <a:off x="1783080" y="418795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>
                <a:solidFill>
                  <a:srgbClr val="B8C3D9"/>
                </a:solidFill>
              </a:rPr>
              <a:t>Staf KP dapat meninjau antrean laporan, memeriksa bukti, mencatat proses, dan meneruskan hasil penanganan sesuai role.</a:t>
            </a:r>
          </a:p>
        </p:txBody>
      </p:sp>
      <p:sp>
        <p:nvSpPr>
          <p:cNvPr id="33" name="function card"/>
          <p:cNvSpPr/>
          <p:nvPr/>
        </p:nvSpPr>
        <p:spPr>
          <a:xfrm>
            <a:off x="6355080" y="3566160"/>
            <a:ext cx="5074920" cy="123444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43" name="function num"/>
          <p:cNvSpPr/>
          <p:nvPr/>
        </p:nvSpPr>
        <p:spPr>
          <a:xfrm>
            <a:off x="6583680" y="3822191"/>
            <a:ext cx="566928" cy="56692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53" name="function num text"/>
          <p:cNvSpPr txBox="1"/>
          <p:nvPr/>
        </p:nvSpPr>
        <p:spPr>
          <a:xfrm>
            <a:off x="6693408" y="395935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100" b="1">
                <a:solidFill>
                  <a:srgbClr val="0B162C"/>
                </a:solidFill>
              </a:rPr>
              <a:t>04</a:t>
            </a:r>
          </a:p>
        </p:txBody>
      </p:sp>
      <p:sp>
        <p:nvSpPr>
          <p:cNvPr id="63" name="function title"/>
          <p:cNvSpPr txBox="1"/>
          <p:nvPr/>
        </p:nvSpPr>
        <p:spPr>
          <a:xfrm>
            <a:off x="7315200" y="38130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500" b="1">
                <a:solidFill>
                  <a:srgbClr val="FFFFFF"/>
                </a:solidFill>
              </a:rPr>
              <a:t>Transparansi Publik</a:t>
            </a:r>
          </a:p>
        </p:txBody>
      </p:sp>
      <p:sp>
        <p:nvSpPr>
          <p:cNvPr id="73" name="function desc"/>
          <p:cNvSpPr txBox="1"/>
          <p:nvPr/>
        </p:nvSpPr>
        <p:spPr>
          <a:xfrm>
            <a:off x="7315200" y="418795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>
                <a:solidFill>
                  <a:srgbClr val="B8C3D9"/>
                </a:solidFill>
              </a:rPr>
              <a:t>Putusan yang sudah disetujui dapat dipublikasikan agar mahasiswa mendapatkan informasi resmi dan terdokumentasi.</a:t>
            </a:r>
          </a:p>
        </p:txBody>
      </p:sp>
      <p:sp>
        <p:nvSpPr>
          <p:cNvPr id="90" name="bottom line"/>
          <p:cNvSpPr/>
          <p:nvPr/>
        </p:nvSpPr>
        <p:spPr>
          <a:xfrm>
            <a:off x="822960" y="5989320"/>
            <a:ext cx="10561320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Ringkasan Presentasi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PEMIRA APP 2025</a:t>
            </a:r>
          </a:p>
        </p:txBody>
      </p:sp>
      <p:sp>
        <p:nvSpPr>
          <p:cNvPr id="20" name="agenda card"/>
          <p:cNvSpPr/>
          <p:nvPr/>
        </p:nvSpPr>
        <p:spPr>
          <a:xfrm>
            <a:off x="914400" y="1234440"/>
            <a:ext cx="10332720" cy="105156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30" name="num"/>
          <p:cNvSpPr txBox="1"/>
          <p:nvPr/>
        </p:nvSpPr>
        <p:spPr>
          <a:xfrm>
            <a:off x="1143000" y="146304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2200" b="1">
                <a:solidFill>
                  <a:srgbClr val="E4AD22"/>
                </a:solidFill>
              </a:rPr>
              <a:t>01</a:t>
            </a:r>
          </a:p>
        </p:txBody>
      </p:sp>
      <p:sp>
        <p:nvSpPr>
          <p:cNvPr id="40" name="agenda title"/>
          <p:cNvSpPr txBox="1"/>
          <p:nvPr/>
        </p:nvSpPr>
        <p:spPr>
          <a:xfrm>
            <a:off x="2057400" y="1435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800" b="1">
                <a:solidFill>
                  <a:srgbClr val="FFFFFF"/>
                </a:solidFill>
              </a:rPr>
              <a:t>Halaman Publik</a:t>
            </a:r>
          </a:p>
        </p:txBody>
      </p:sp>
      <p:sp>
        <p:nvSpPr>
          <p:cNvPr id="50" name="agenda desc"/>
          <p:cNvSpPr txBox="1"/>
          <p:nvPr/>
        </p:nvSpPr>
        <p:spPr>
          <a:xfrm>
            <a:off x="2057400" y="1801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200">
                <a:solidFill>
                  <a:srgbClr val="B8C3D9"/>
                </a:solidFill>
              </a:rPr>
              <a:t>Beranda, informasi PEMIRA, aturan main, pelaporan, status laporan, transparansi, dan profil KP.</a:t>
            </a:r>
          </a:p>
        </p:txBody>
      </p:sp>
      <p:sp>
        <p:nvSpPr>
          <p:cNvPr id="21" name="agenda card"/>
          <p:cNvSpPr/>
          <p:nvPr/>
        </p:nvSpPr>
        <p:spPr>
          <a:xfrm>
            <a:off x="914400" y="2651760"/>
            <a:ext cx="10332720" cy="105156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31" name="num"/>
          <p:cNvSpPr txBox="1"/>
          <p:nvPr/>
        </p:nvSpPr>
        <p:spPr>
          <a:xfrm>
            <a:off x="1143000" y="288036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2200" b="1">
                <a:solidFill>
                  <a:srgbClr val="E4AD22"/>
                </a:solidFill>
              </a:rPr>
              <a:t>02</a:t>
            </a:r>
          </a:p>
        </p:txBody>
      </p:sp>
      <p:sp>
        <p:nvSpPr>
          <p:cNvPr id="41" name="agenda title"/>
          <p:cNvSpPr txBox="1"/>
          <p:nvPr/>
        </p:nvSpPr>
        <p:spPr>
          <a:xfrm>
            <a:off x="2057400" y="28529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800" b="1">
                <a:solidFill>
                  <a:srgbClr val="FFFFFF"/>
                </a:solidFill>
              </a:rPr>
              <a:t>Alur Pelaporan</a:t>
            </a:r>
          </a:p>
        </p:txBody>
      </p:sp>
      <p:sp>
        <p:nvSpPr>
          <p:cNvPr id="51" name="agenda desc"/>
          <p:cNvSpPr txBox="1"/>
          <p:nvPr/>
        </p:nvSpPr>
        <p:spPr>
          <a:xfrm>
            <a:off x="2057400" y="321868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200">
                <a:solidFill>
                  <a:srgbClr val="B8C3D9"/>
                </a:solidFill>
              </a:rPr>
              <a:t>Mahasiswa melapor tanpa login, mendapatkan kode tiket, lalu melacak status menggunakan NPM.</a:t>
            </a:r>
          </a:p>
        </p:txBody>
      </p:sp>
      <p:sp>
        <p:nvSpPr>
          <p:cNvPr id="22" name="agenda card"/>
          <p:cNvSpPr/>
          <p:nvPr/>
        </p:nvSpPr>
        <p:spPr>
          <a:xfrm>
            <a:off x="914400" y="4069080"/>
            <a:ext cx="10332720" cy="1051560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32" name="num"/>
          <p:cNvSpPr txBox="1"/>
          <p:nvPr/>
        </p:nvSpPr>
        <p:spPr>
          <a:xfrm>
            <a:off x="1143000" y="429768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2200" b="1">
                <a:solidFill>
                  <a:srgbClr val="E4AD22"/>
                </a:solidFill>
              </a:rPr>
              <a:t>03</a:t>
            </a:r>
          </a:p>
        </p:txBody>
      </p:sp>
      <p:sp>
        <p:nvSpPr>
          <p:cNvPr id="42" name="agenda title"/>
          <p:cNvSpPr txBox="1"/>
          <p:nvPr/>
        </p:nvSpPr>
        <p:spPr>
          <a:xfrm>
            <a:off x="2057400" y="42702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800" b="1">
                <a:solidFill>
                  <a:srgbClr val="FFFFFF"/>
                </a:solidFill>
              </a:rPr>
              <a:t>Dashboard Staf KP</a:t>
            </a:r>
          </a:p>
        </p:txBody>
      </p:sp>
      <p:sp>
        <p:nvSpPr>
          <p:cNvPr id="52" name="agenda desc"/>
          <p:cNvSpPr txBox="1"/>
          <p:nvPr/>
        </p:nvSpPr>
        <p:spPr>
          <a:xfrm>
            <a:off x="2057400" y="4636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200">
                <a:solidFill>
                  <a:srgbClr val="B8C3D9"/>
                </a:solidFill>
              </a:rPr>
              <a:t>Panel internal untuk pengelolaan laporan, investigasi, persetujuan, publikasi, kandidat, dan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3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51560"/>
            <a:ext cx="1828800" cy="1828800"/>
          </a:xfrm>
          <a:prstGeom prst="rect">
            <a:avLst/>
          </a:prstGeom>
        </p:spPr>
      </p:pic>
      <p:sp>
        <p:nvSpPr>
          <p:cNvPr id="4" name="section"/>
          <p:cNvSpPr txBox="1"/>
          <p:nvPr/>
        </p:nvSpPr>
        <p:spPr>
          <a:xfrm>
            <a:off x="731520" y="32461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4000" b="1">
                <a:solidFill>
                  <a:srgbClr val="FFFFFF"/>
                </a:solidFill>
              </a:rPr>
              <a:t>HALAMAN PUBLIK</a:t>
            </a:r>
          </a:p>
        </p:txBody>
      </p:sp>
      <p:sp>
        <p:nvSpPr>
          <p:cNvPr id="5" name="section desc"/>
          <p:cNvSpPr txBox="1"/>
          <p:nvPr/>
        </p:nvSpPr>
        <p:spPr>
          <a:xfrm>
            <a:off x="1005840" y="406908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700">
                <a:solidFill>
                  <a:srgbClr val="B8C3D9"/>
                </a:solidFill>
              </a:rPr>
              <a:t>Tampilan kanal informasi dan pelaporan untuk mahasiswa</a:t>
            </a:r>
          </a:p>
        </p:txBody>
      </p:sp>
      <p:sp>
        <p:nvSpPr>
          <p:cNvPr id="6" name="line"/>
          <p:cNvSpPr/>
          <p:nvPr/>
        </p:nvSpPr>
        <p:spPr>
          <a:xfrm>
            <a:off x="4709160" y="4663440"/>
            <a:ext cx="2743200" cy="73152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Beranda dan Identitas Aplikasi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01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Beranda dan Identitas Aplikasi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Menampilkan identitas Komite Pengawasan PEMIRA 2025, ajakan melapor, serta akses cepat menuju informasi dan kanal pelaporan.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Prinsip Pengawasan dan Ringkasan Sistem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02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Prinsip Pengawasan dan Ringkasan Sistem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Menjelaskan nilai utama pengawasan seperti independensi, transparansi, akuntabilitas, dan kepastian hukum.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Informasi PEMIRA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03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Informasi PEMIRA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Berisi informasi umum, tahapan, serta konteks pelaksanaan PEMIRA agar mahasiswa memahami proses yang sedang berjalan.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Aturan Main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04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Aturan Main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Menyajikan ketentuan dan larangan selama PEMIRA sebagai dasar penilaian dugaan pelanggaran.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Form Lapor Pelanggaran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05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Form Lapor Pelanggaran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Mahasiswa dapat melaporkan dugaan pelanggaran tanpa login dengan mengisi detail kejadian, identitas, dan bukti pendukung.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Upload Formulir / Lampiran Bukti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06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Upload Formulir / Lampiran Bukti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Selain mengisi langsung, pelapor dapat mengunduh template formulir, mengisinya, lalu mengunggah hasilnya bersama bukti.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Pelacakan Status Laporan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07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Pelacakan Status Laporan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Pelapor dapat memantau perkembangan laporan menggunakan kode tiket dan NPM yang digunakan saat mengirim laporan.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Transparansi dan Tentang KP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Landing Page · 08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aplikasi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Transparansi dan Tentang KP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Menampilkan publikasi putusan, profil Komite Pengawasan, struktur divisi, dan kanal kontak resmi.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Halaman Publik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3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51560"/>
            <a:ext cx="1828800" cy="1828800"/>
          </a:xfrm>
          <a:prstGeom prst="rect">
            <a:avLst/>
          </a:prstGeom>
        </p:spPr>
      </p:pic>
      <p:sp>
        <p:nvSpPr>
          <p:cNvPr id="4" name="section"/>
          <p:cNvSpPr txBox="1"/>
          <p:nvPr/>
        </p:nvSpPr>
        <p:spPr>
          <a:xfrm>
            <a:off x="731520" y="324612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4000" b="1">
                <a:solidFill>
                  <a:srgbClr val="FFFFFF"/>
                </a:solidFill>
              </a:rPr>
              <a:t>DASHBOARD STAF KP</a:t>
            </a:r>
          </a:p>
        </p:txBody>
      </p:sp>
      <p:sp>
        <p:nvSpPr>
          <p:cNvPr id="5" name="section desc"/>
          <p:cNvSpPr txBox="1"/>
          <p:nvPr/>
        </p:nvSpPr>
        <p:spPr>
          <a:xfrm>
            <a:off x="1005840" y="406908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700">
                <a:solidFill>
                  <a:srgbClr val="B8C3D9"/>
                </a:solidFill>
              </a:rPr>
              <a:t>Panel kerja internal untuk pengelolaan laporan dan administrasi</a:t>
            </a:r>
          </a:p>
        </p:txBody>
      </p:sp>
      <p:sp>
        <p:nvSpPr>
          <p:cNvPr id="6" name="line"/>
          <p:cNvSpPr/>
          <p:nvPr/>
        </p:nvSpPr>
        <p:spPr>
          <a:xfrm>
            <a:off x="4709160" y="4663440"/>
            <a:ext cx="2743200" cy="73152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Login Staf Komite Pengawasan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KP Staff · 01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0823"/>
            <a:ext cx="6629400" cy="3371760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dashboard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Login Staf Komite Pengawasan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Akses khusus staf KP menggunakan email dan password. Mahasiswa tidak perlu login untuk melapor atau melacak status.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Dashboard Staf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Dashboard Internal KP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KP Staff · 02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dashboard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Dashboard Internal KP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Beranda kerja staf untuk melihat peran akun, akses cepat, dan modul yang sesuai dengan otorisasi masing-masing divisi.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Dashboard Staf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Manajemen Data dan Antrean Kerja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KP Staff · 03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2185"/>
            <a:ext cx="6629400" cy="3729037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dashboard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Manajemen Data dan Antrean Kerja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Admin dan staf dapat mengelola data pendukung seperti kandidat, pengguna, serta antrean laporan yang perlu diproses.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Dashboard Staf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bar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sp>
        <p:nvSpPr>
          <p:cNvPr id="11" name="gold line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12" name="slide title"/>
          <p:cNvSpPr txBox="1"/>
          <p:nvPr/>
        </p:nvSpPr>
        <p:spPr>
          <a:xfrm>
            <a:off x="502920" y="20116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2000" b="1">
                <a:solidFill>
                  <a:srgbClr val="FFFFFF"/>
                </a:solidFill>
              </a:rPr>
              <a:t>Detail Laporan dan Tindak Lanjut</a:t>
            </a:r>
          </a:p>
        </p:txBody>
      </p:sp>
      <p:sp>
        <p:nvSpPr>
          <p:cNvPr id="13" name="slide subtitle"/>
          <p:cNvSpPr txBox="1"/>
          <p:nvPr/>
        </p:nvSpPr>
        <p:spPr>
          <a:xfrm>
            <a:off x="8321040" y="228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id-ID" sz="1000">
                <a:solidFill>
                  <a:srgbClr val="B8C3D9"/>
                </a:solidFill>
              </a:rPr>
              <a:t>KP Staff · 04</a:t>
            </a:r>
          </a:p>
        </p:txBody>
      </p:sp>
      <p:sp>
        <p:nvSpPr>
          <p:cNvPr id="20" name="image shadow"/>
          <p:cNvSpPr/>
          <p:nvPr/>
        </p:nvSpPr>
        <p:spPr>
          <a:xfrm>
            <a:off x="694944" y="1307592"/>
            <a:ext cx="6976872" cy="4078224"/>
          </a:xfrm>
          <a:prstGeom prst="roundRect">
            <a:avLst/>
          </a:prstGeom>
          <a:solidFill>
            <a:srgbClr val="050B17">
              <a:alpha val="40000"/>
            </a:srgbClr>
          </a:solidFill>
          <a:ln>
            <a:noFill/>
          </a:ln>
        </p:spPr>
      </p:sp>
      <p:sp>
        <p:nvSpPr>
          <p:cNvPr id="21" name="image frame"/>
          <p:cNvSpPr/>
          <p:nvPr/>
        </p:nvSpPr>
        <p:spPr>
          <a:xfrm>
            <a:off x="731520" y="1344168"/>
            <a:ext cx="690372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E4AD22"/>
            </a:solidFill>
          </a:ln>
        </p:spPr>
      </p:sp>
      <p:sp>
        <p:nvSpPr>
          <p:cNvPr id="22" name="browser bar"/>
          <p:cNvSpPr/>
          <p:nvPr/>
        </p:nvSpPr>
        <p:spPr>
          <a:xfrm>
            <a:off x="868680" y="1481328"/>
            <a:ext cx="6629400" cy="219456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pic>
        <p:nvPicPr>
          <p:cNvPr id="23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6011"/>
            <a:ext cx="6629400" cy="3361385"/>
          </a:xfrm>
          <a:prstGeom prst="rect">
            <a:avLst/>
          </a:prstGeom>
        </p:spPr>
      </p:pic>
      <p:sp>
        <p:nvSpPr>
          <p:cNvPr id="24" name="image caption"/>
          <p:cNvSpPr txBox="1"/>
          <p:nvPr/>
        </p:nvSpPr>
        <p:spPr>
          <a:xfrm>
            <a:off x="868680" y="55321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>
                <a:solidFill>
                  <a:srgbClr val="B8C3D9"/>
                </a:solidFill>
              </a:rPr>
              <a:t>Cuplikan tampilan dashboard</a:t>
            </a:r>
          </a:p>
        </p:txBody>
      </p:sp>
      <p:sp>
        <p:nvSpPr>
          <p:cNvPr id="25" name="desc card"/>
          <p:cNvSpPr/>
          <p:nvPr/>
        </p:nvSpPr>
        <p:spPr>
          <a:xfrm>
            <a:off x="8001000" y="1344168"/>
            <a:ext cx="3429000" cy="4005072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26" name="desc label"/>
          <p:cNvSpPr txBox="1"/>
          <p:nvPr/>
        </p:nvSpPr>
        <p:spPr>
          <a:xfrm>
            <a:off x="8275320" y="1664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000" b="1">
                <a:solidFill>
                  <a:srgbClr val="E4AD22"/>
                </a:solidFill>
              </a:rPr>
              <a:t>DESKRIPSI</a:t>
            </a:r>
          </a:p>
        </p:txBody>
      </p:sp>
      <p:sp>
        <p:nvSpPr>
          <p:cNvPr id="27" name="desc title"/>
          <p:cNvSpPr txBox="1"/>
          <p:nvPr/>
        </p:nvSpPr>
        <p:spPr>
          <a:xfrm>
            <a:off x="8275320" y="2048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700" b="1">
                <a:solidFill>
                  <a:srgbClr val="FFFFFF"/>
                </a:solidFill>
              </a:rPr>
              <a:t>Detail Laporan dan Tindak Lanjut</a:t>
            </a:r>
          </a:p>
        </p:txBody>
      </p:sp>
      <p:sp>
        <p:nvSpPr>
          <p:cNvPr id="28" name="desc body"/>
          <p:cNvSpPr txBox="1"/>
          <p:nvPr/>
        </p:nvSpPr>
        <p:spPr>
          <a:xfrm>
            <a:off x="8275320" y="2953512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100">
                <a:solidFill>
                  <a:srgbClr val="B8C3D9"/>
                </a:solidFill>
              </a:rPr>
              <a:t>Staf berwenang dapat membuka detail laporan, meninjau bukti, mencatat proses, dan meneruskan status penanganan.</a:t>
            </a:r>
          </a:p>
        </p:txBody>
      </p:sp>
      <p:sp>
        <p:nvSpPr>
          <p:cNvPr id="29" name="note pill"/>
          <p:cNvSpPr/>
          <p:nvPr/>
        </p:nvSpPr>
        <p:spPr>
          <a:xfrm>
            <a:off x="8275320" y="4709160"/>
            <a:ext cx="2423160" cy="384048"/>
          </a:xfrm>
          <a:prstGeom prst="roundRect">
            <a:avLst/>
          </a:prstGeom>
          <a:solidFill>
            <a:srgbClr val="E4AD22"/>
          </a:solidFill>
          <a:ln>
            <a:noFill/>
          </a:ln>
        </p:spPr>
      </p:sp>
      <p:sp>
        <p:nvSpPr>
          <p:cNvPr id="30" name="note"/>
          <p:cNvSpPr txBox="1"/>
          <p:nvPr/>
        </p:nvSpPr>
        <p:spPr>
          <a:xfrm>
            <a:off x="8476488" y="4828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000" b="1">
                <a:solidFill>
                  <a:srgbClr val="0B162C"/>
                </a:solidFill>
              </a:rPr>
              <a:t>Dashboard Staf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</p:sp>
      <p:sp>
        <p:nvSpPr>
          <p:cNvPr id="3" name="top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447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"/>
            <a:ext cx="594360" cy="594360"/>
          </a:xfrm>
          <a:prstGeom prst="rect">
            <a:avLst/>
          </a:prstGeom>
        </p:spPr>
      </p:pic>
      <p:sp>
        <p:nvSpPr>
          <p:cNvPr id="5" name="brand"/>
          <p:cNvSpPr txBox="1"/>
          <p:nvPr/>
        </p:nvSpPr>
        <p:spPr>
          <a:xfrm>
            <a:off x="1417320" y="2560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1600" b="1">
                <a:solidFill>
                  <a:srgbClr val="FFFFFF"/>
                </a:solidFill>
              </a:rPr>
              <a:t>Komite Pengawasan</a:t>
            </a:r>
          </a:p>
        </p:txBody>
      </p:sp>
      <p:sp>
        <p:nvSpPr>
          <p:cNvPr id="6" name="tag"/>
          <p:cNvSpPr txBox="1"/>
          <p:nvPr/>
        </p:nvSpPr>
        <p:spPr>
          <a:xfrm>
            <a:off x="1417320" y="5303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id-ID" sz="900" b="1">
                <a:solidFill>
                  <a:srgbClr val="E4AD22"/>
                </a:solidFill>
              </a:rPr>
              <a:t>PEMIRA 2025</a:t>
            </a:r>
          </a:p>
        </p:txBody>
      </p:sp>
      <p:sp>
        <p:nvSpPr>
          <p:cNvPr id="7" name="thanks"/>
          <p:cNvSpPr txBox="1"/>
          <p:nvPr/>
        </p:nvSpPr>
        <p:spPr>
          <a:xfrm>
            <a:off x="914400" y="182880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4400" b="1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8" name="desc"/>
          <p:cNvSpPr txBox="1"/>
          <p:nvPr/>
        </p:nvSpPr>
        <p:spPr>
          <a:xfrm>
            <a:off x="1828800" y="274320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700">
                <a:solidFill>
                  <a:srgbClr val="B8C3D9"/>
                </a:solidFill>
              </a:rPr>
              <a:t>PEMIRA APP siap digunakan sebagai kanal pelaporan, pengawasan, dan transparansi proses Pemilihan Raya.</a:t>
            </a:r>
          </a:p>
        </p:txBody>
      </p:sp>
      <p:sp>
        <p:nvSpPr>
          <p:cNvPr id="9" name="ig card"/>
          <p:cNvSpPr/>
          <p:nvPr/>
        </p:nvSpPr>
        <p:spPr>
          <a:xfrm>
            <a:off x="3840480" y="3886200"/>
            <a:ext cx="4526280" cy="658368"/>
          </a:xfrm>
          <a:prstGeom prst="roundRect">
            <a:avLst/>
          </a:prstGeom>
          <a:solidFill>
            <a:srgbClr val="1B2F57"/>
          </a:solidFill>
          <a:ln w="12700">
            <a:solidFill>
              <a:srgbClr val="31496F"/>
            </a:solidFill>
          </a:ln>
        </p:spPr>
      </p:sp>
      <p:sp>
        <p:nvSpPr>
          <p:cNvPr id="10" name="ig"/>
          <p:cNvSpPr txBox="1"/>
          <p:nvPr/>
        </p:nvSpPr>
        <p:spPr>
          <a:xfrm>
            <a:off x="4069080" y="4096512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400" b="1">
                <a:solidFill>
                  <a:srgbClr val="E4AD22"/>
                </a:solidFill>
              </a:rPr>
              <a:t>Instagram: @kppemirapoltekkesbdg2</a:t>
            </a:r>
          </a:p>
        </p:txBody>
      </p:sp>
      <p:sp>
        <p:nvSpPr>
          <p:cNvPr id="11" name="email"/>
          <p:cNvSpPr txBox="1"/>
          <p:nvPr/>
        </p:nvSpPr>
        <p:spPr>
          <a:xfrm>
            <a:off x="3383280" y="489204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"/>
            <a:r>
              <a:rPr lang="id-ID" sz="1200">
                <a:solidFill>
                  <a:srgbClr val="B8C3D9"/>
                </a:solidFill>
              </a:rPr>
              <a:t>kp.pemira@poltekkesbandung.ac.id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MIRA Theme">
  <a:themeElements>
    <a:clrScheme name="PEMIRA">
      <a:dk1>
        <a:srgbClr val="0B162C"/>
      </a:dk1>
      <a:lt1>
        <a:srgbClr val="FFFFFF"/>
      </a:lt1>
      <a:dk2>
        <a:srgbClr val="132447"/>
      </a:dk2>
      <a:lt2>
        <a:srgbClr val="F7F9FC"/>
      </a:lt2>
      <a:accent1>
        <a:srgbClr val="E4AD22"/>
      </a:accent1>
      <a:accent2>
        <a:srgbClr val="1B2F57"/>
      </a:accent2>
      <a:accent3>
        <a:srgbClr val="22C55E"/>
      </a:accent3>
      <a:accent4>
        <a:srgbClr val="F4C64E"/>
      </a:accent4>
      <a:accent5>
        <a:srgbClr val="7286AA"/>
      </a:accent5>
      <a:accent6>
        <a:srgbClr val="B8C3D9"/>
      </a:accent6>
      <a:hlink>
        <a:srgbClr val="E4AD22"/>
      </a:hlink>
      <a:folHlink>
        <a:srgbClr val="F4C64E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PEMIRA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18</Slides>
  <Company>Komite Pengawasan PEMIRA 2025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PEMIRA APP 2025</dc:title>
  <dc:creator>Komite Pengawasan</dc:creator>
  <cp:lastModifiedBy>Pi Coding Agent</cp:lastModifiedBy>
  <dcterms:created xsi:type="dcterms:W3CDTF">2026-07-12T04:04:23Z</dcterms:created>
  <dcterms:modified xsi:type="dcterms:W3CDTF">2026-07-12T04:04:23Z</dcterms:modified>
</cp:coreProperties>
</file>